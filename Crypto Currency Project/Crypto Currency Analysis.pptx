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56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80" r:id="rId16"/>
    <p:sldId id="267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41" autoAdjust="0"/>
  </p:normalViewPr>
  <p:slideViewPr>
    <p:cSldViewPr snapToGrid="0">
      <p:cViewPr varScale="1">
        <p:scale>
          <a:sx n="119" d="100"/>
          <a:sy n="119" d="100"/>
        </p:scale>
        <p:origin x="96" y="28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88" y="32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703FB87-790C-4850-A90C-12C5FF4B94D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127921-F9C4-44F3-AC5F-130B6A406C0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E59275-AFE1-4999-B78A-D0D76B9F2B0B}" type="datetimeFigureOut">
              <a:rPr lang="en-US" smtClean="0"/>
              <a:t>1/6/2026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65E047-F1CB-4066-A459-9EDC95F2E61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A77EF5-5277-4BAF-8BB4-2E02103988E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668C69-0C3E-40A2-B4A0-B2C8B71D8E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5862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EADD7A-FE61-48EE-BE0E-8546E5401374}" type="datetimeFigureOut">
              <a:rPr lang="en-US" smtClean="0"/>
              <a:t>1/6/2026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000EEB-8338-48D7-8EE8-EE0082EF76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7770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3382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29666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1/6/2026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1/6/2026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1/6/2026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1/6/2026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1/6/2026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509A250-FF31-4206-8172-F9D3106AACB1}" type="datetimeFigureOut">
              <a:rPr lang="en-US" dirty="0"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in links">
            <a:extLst>
              <a:ext uri="{FF2B5EF4-FFF2-40B4-BE49-F238E27FC236}">
                <a16:creationId xmlns:a16="http://schemas.microsoft.com/office/drawing/2014/main" id="{A4511EBC-2F3C-446D-867B-7DC328517A4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318E9D62-7BA3-4D5E-8915-0D0E8661E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4A3D806A-2A55-EC46-3DE2-C71F4E5410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1299411"/>
            <a:ext cx="8825658" cy="4467725"/>
          </a:xfrm>
        </p:spPr>
        <p:txBody>
          <a:bodyPr/>
          <a:lstStyle/>
          <a:p>
            <a:r>
              <a:rPr lang="en-US" sz="3200" b="1" u="sng" dirty="0">
                <a:solidFill>
                  <a:schemeClr val="tx1"/>
                </a:solidFill>
              </a:rPr>
              <a:t>Title:</a:t>
            </a:r>
            <a:br>
              <a:rPr lang="en-US" sz="3200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>Cryptocurrency Price Analysis &amp; Forecasting Dashboard</a:t>
            </a:r>
            <a:endParaRPr lang="en-US" sz="3200" dirty="0">
              <a:solidFill>
                <a:schemeClr val="tx1"/>
              </a:solidFill>
            </a:endParaRPr>
          </a:p>
          <a:p>
            <a:r>
              <a:rPr lang="en-US" b="1" u="sng" dirty="0">
                <a:solidFill>
                  <a:schemeClr val="tx1"/>
                </a:solidFill>
              </a:rPr>
              <a:t>Subtitle: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Time Series Analytics using Power BI</a:t>
            </a:r>
          </a:p>
          <a:p>
            <a:r>
              <a:rPr lang="en-US" b="1" u="sng" dirty="0">
                <a:solidFill>
                  <a:schemeClr val="tx1"/>
                </a:solidFill>
              </a:rPr>
              <a:t>Presented by: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Yurekan m </a:t>
            </a:r>
          </a:p>
          <a:p>
            <a:r>
              <a:rPr lang="en-US" b="1" u="sng" dirty="0">
                <a:solidFill>
                  <a:schemeClr val="tx1"/>
                </a:solidFill>
              </a:rPr>
              <a:t>Tools Used: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Power BI | Python | Time Series Analysis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000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FEEACD-4094-3DE0-7EE1-175E0B59695D}"/>
              </a:ext>
            </a:extLst>
          </p:cNvPr>
          <p:cNvSpPr txBox="1"/>
          <p:nvPr/>
        </p:nvSpPr>
        <p:spPr>
          <a:xfrm>
            <a:off x="705852" y="1323473"/>
            <a:ext cx="689008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Problem Statement:</a:t>
            </a:r>
            <a:endParaRPr lang="en-US" sz="2400" u="sng" dirty="0"/>
          </a:p>
          <a:p>
            <a:r>
              <a:rPr lang="en-US" sz="2400" dirty="0"/>
              <a:t>Cryptocurrency markets are highly volatile and unpredictable</a:t>
            </a:r>
          </a:p>
          <a:p>
            <a:r>
              <a:rPr lang="en-US" sz="2400" dirty="0"/>
              <a:t>Investors need data-driven insights to understand price movements and risk</a:t>
            </a:r>
          </a:p>
          <a:p>
            <a:r>
              <a:rPr lang="en-US" sz="2400" dirty="0"/>
              <a:t>Traditional analysis is insufficient without visualization and forecasting</a:t>
            </a:r>
          </a:p>
          <a:p>
            <a:r>
              <a:rPr lang="en-US" sz="2400" b="1" u="sng" dirty="0"/>
              <a:t>Objective:</a:t>
            </a:r>
          </a:p>
          <a:p>
            <a:r>
              <a:rPr lang="en-US" sz="2400" dirty="0"/>
              <a:t>To analyze Bitcoin price behavior</a:t>
            </a:r>
          </a:p>
          <a:p>
            <a:r>
              <a:rPr lang="en-US" sz="2400" dirty="0"/>
              <a:t>To forecast future price trends</a:t>
            </a:r>
          </a:p>
          <a:p>
            <a:r>
              <a:rPr lang="en-US" sz="2400" dirty="0"/>
              <a:t>To evaluate risk and market structure using analytics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F944BE-C698-D236-F59A-E068BFA237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2716" y="1475874"/>
            <a:ext cx="4066673" cy="4010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725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BE00C46-8481-C69D-47DB-15B37F182649}"/>
              </a:ext>
            </a:extLst>
          </p:cNvPr>
          <p:cNvSpPr txBox="1"/>
          <p:nvPr/>
        </p:nvSpPr>
        <p:spPr>
          <a:xfrm>
            <a:off x="657727" y="1820779"/>
            <a:ext cx="5959642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/>
              <a:t>Dataset:</a:t>
            </a:r>
            <a:endParaRPr lang="en-IN" sz="2400" u="sng" dirty="0"/>
          </a:p>
          <a:p>
            <a:r>
              <a:rPr lang="en-IN" sz="2400" dirty="0"/>
              <a:t>Bitcoin historical price data</a:t>
            </a:r>
          </a:p>
          <a:p>
            <a:r>
              <a:rPr lang="en-IN" sz="2400" dirty="0"/>
              <a:t>OHLC (Open, High, Low, Close) and Volume</a:t>
            </a:r>
          </a:p>
          <a:p>
            <a:r>
              <a:rPr lang="en-IN" sz="2400" dirty="0"/>
              <a:t>Time period: 2022 – Present</a:t>
            </a:r>
          </a:p>
          <a:p>
            <a:r>
              <a:rPr lang="en-IN" sz="2400" b="1" u="sng" dirty="0"/>
              <a:t>Tools &amp; Technologies:</a:t>
            </a:r>
            <a:endParaRPr lang="en-IN" sz="2400" u="sng" dirty="0"/>
          </a:p>
          <a:p>
            <a:r>
              <a:rPr lang="en-IN" sz="2400" dirty="0"/>
              <a:t>Power BI – Visualization &amp; Dashboard</a:t>
            </a:r>
          </a:p>
          <a:p>
            <a:r>
              <a:rPr lang="en-IN" sz="2400" dirty="0"/>
              <a:t>Python – Data collection &amp; preprocessing</a:t>
            </a:r>
          </a:p>
          <a:p>
            <a:r>
              <a:rPr lang="en-IN" sz="2400" dirty="0"/>
              <a:t>DAX – Indicators &amp; analytics measures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7581AD-C77C-4212-101D-2A663FF40A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8421" y="2366211"/>
            <a:ext cx="4812631" cy="331269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045E802-2322-C03D-27FD-F1BDC5B0A790}"/>
              </a:ext>
            </a:extLst>
          </p:cNvPr>
          <p:cNvSpPr txBox="1"/>
          <p:nvPr/>
        </p:nvSpPr>
        <p:spPr>
          <a:xfrm>
            <a:off x="657727" y="789904"/>
            <a:ext cx="57270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DATASET &amp; TOOLS</a:t>
            </a:r>
          </a:p>
        </p:txBody>
      </p:sp>
    </p:spTree>
    <p:extLst>
      <p:ext uri="{BB962C8B-B14F-4D97-AF65-F5344CB8AC3E}">
        <p14:creationId xmlns:p14="http://schemas.microsoft.com/office/powerpoint/2010/main" val="1165103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3AC2FE9-A32C-496C-C784-552EDE46BCC8}"/>
              </a:ext>
            </a:extLst>
          </p:cNvPr>
          <p:cNvSpPr txBox="1"/>
          <p:nvPr/>
        </p:nvSpPr>
        <p:spPr>
          <a:xfrm>
            <a:off x="641684" y="769078"/>
            <a:ext cx="74194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/>
              <a:t>PRICE OVERVIEW &amp; TRENDS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E14686-E3E8-4AC9-682D-9B7A91F328BF}"/>
              </a:ext>
            </a:extLst>
          </p:cNvPr>
          <p:cNvSpPr txBox="1"/>
          <p:nvPr/>
        </p:nvSpPr>
        <p:spPr>
          <a:xfrm>
            <a:off x="585537" y="2494547"/>
            <a:ext cx="5510463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/>
              <a:t>Key Analysis:</a:t>
            </a:r>
            <a:endParaRPr lang="en-US" sz="2000" u="sng" dirty="0"/>
          </a:p>
          <a:p>
            <a:r>
              <a:rPr lang="en-US" sz="2000" dirty="0"/>
              <a:t>Long-term Bitcoin price movement</a:t>
            </a:r>
          </a:p>
          <a:p>
            <a:r>
              <a:rPr lang="en-US" sz="2000" dirty="0"/>
              <a:t>Identification of major uptrends and downtrends</a:t>
            </a:r>
          </a:p>
          <a:p>
            <a:r>
              <a:rPr lang="en-US" sz="2000" dirty="0"/>
              <a:t>Initial understanding of market behavior</a:t>
            </a:r>
          </a:p>
          <a:p>
            <a:r>
              <a:rPr lang="en-US" sz="2000" b="1" u="sng" dirty="0"/>
              <a:t>Visualization Used:</a:t>
            </a:r>
          </a:p>
          <a:p>
            <a:r>
              <a:rPr lang="en-US" sz="2000" dirty="0"/>
              <a:t>Line chart (Closing price vs Date)</a:t>
            </a:r>
          </a:p>
          <a:p>
            <a:r>
              <a:rPr lang="en-US" sz="2000" dirty="0"/>
              <a:t>KPI showing latest Bitcoin price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AE43CA-41A7-842B-1C2C-153B2BAEA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2968" y="1941095"/>
            <a:ext cx="6368716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550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D42957-20ED-820F-B512-000761B73472}"/>
              </a:ext>
            </a:extLst>
          </p:cNvPr>
          <p:cNvSpPr txBox="1"/>
          <p:nvPr/>
        </p:nvSpPr>
        <p:spPr>
          <a:xfrm>
            <a:off x="497305" y="457200"/>
            <a:ext cx="822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/>
              <a:t>PRICE ACTION &amp; TECHNICAL 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8F2A92-F898-8E14-DF31-484C8C6F72CF}"/>
              </a:ext>
            </a:extLst>
          </p:cNvPr>
          <p:cNvSpPr txBox="1"/>
          <p:nvPr/>
        </p:nvSpPr>
        <p:spPr>
          <a:xfrm>
            <a:off x="168441" y="2374232"/>
            <a:ext cx="5670884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/>
              <a:t>Candlestick / Price Action Analysis:</a:t>
            </a:r>
            <a:endParaRPr lang="en-US" sz="2000" u="sng" dirty="0"/>
          </a:p>
          <a:p>
            <a:r>
              <a:rPr lang="en-US" sz="2000" dirty="0"/>
              <a:t>Represents daily price movement</a:t>
            </a:r>
          </a:p>
          <a:p>
            <a:r>
              <a:rPr lang="en-US" sz="2000" dirty="0"/>
              <a:t>Shows market sentiment and volatility</a:t>
            </a:r>
          </a:p>
          <a:p>
            <a:r>
              <a:rPr lang="en-US" sz="2000" dirty="0"/>
              <a:t>High–Low range indicates price fluctuation</a:t>
            </a:r>
          </a:p>
          <a:p>
            <a:r>
              <a:rPr lang="en-US" sz="2000" b="1" u="sng" dirty="0"/>
              <a:t>Insight:</a:t>
            </a:r>
            <a:endParaRPr lang="en-US" sz="2000" u="sng" dirty="0"/>
          </a:p>
          <a:p>
            <a:r>
              <a:rPr lang="en-US" sz="2000" dirty="0"/>
              <a:t>Bitcoin experiences frequent sharp price swings</a:t>
            </a:r>
          </a:p>
          <a:p>
            <a:r>
              <a:rPr lang="en-US" sz="2000" dirty="0"/>
              <a:t>Indicates speculative and high-risk nature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09C238-F030-4738-B2E7-76E4ACB8B1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2547" y="1772654"/>
            <a:ext cx="6481012" cy="4186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987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1C49AC-AD54-A2D4-483C-9CA8D79C2FA2}"/>
              </a:ext>
            </a:extLst>
          </p:cNvPr>
          <p:cNvSpPr txBox="1"/>
          <p:nvPr/>
        </p:nvSpPr>
        <p:spPr>
          <a:xfrm>
            <a:off x="721895" y="304800"/>
            <a:ext cx="64970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/>
              <a:t>FORECASTING MODELS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255CF1-6F17-C1AD-F3FE-8FD666623345}"/>
              </a:ext>
            </a:extLst>
          </p:cNvPr>
          <p:cNvSpPr txBox="1"/>
          <p:nvPr/>
        </p:nvSpPr>
        <p:spPr>
          <a:xfrm>
            <a:off x="312821" y="2286000"/>
            <a:ext cx="485273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Models Used:</a:t>
            </a:r>
            <a:endParaRPr lang="en-US" u="sng" dirty="0"/>
          </a:p>
          <a:p>
            <a:r>
              <a:rPr lang="en-US" b="1" u="sng" dirty="0"/>
              <a:t>ARIMA</a:t>
            </a:r>
            <a:endParaRPr lang="en-US" u="sng" dirty="0"/>
          </a:p>
          <a:p>
            <a:pPr lvl="1"/>
            <a:r>
              <a:rPr lang="en-US" dirty="0"/>
              <a:t>Statistical time-series model</a:t>
            </a:r>
          </a:p>
          <a:p>
            <a:pPr lvl="1"/>
            <a:r>
              <a:rPr lang="en-US" dirty="0"/>
              <a:t>Effective for short-term forecasting</a:t>
            </a:r>
          </a:p>
          <a:p>
            <a:r>
              <a:rPr lang="en-US" b="1" u="sng" dirty="0"/>
              <a:t>Prophet</a:t>
            </a:r>
            <a:endParaRPr lang="en-US" u="sng" dirty="0"/>
          </a:p>
          <a:p>
            <a:pPr lvl="1"/>
            <a:r>
              <a:rPr lang="en-US" dirty="0"/>
              <a:t>Decomposes data into trend &amp; seasonality</a:t>
            </a:r>
          </a:p>
          <a:p>
            <a:pPr lvl="1"/>
            <a:r>
              <a:rPr lang="en-US" dirty="0"/>
              <a:t>Better for long-term trend analysis</a:t>
            </a:r>
          </a:p>
          <a:p>
            <a:r>
              <a:rPr lang="en-US" b="1" u="sng" dirty="0"/>
              <a:t>Why Two Models?</a:t>
            </a:r>
            <a:endParaRPr lang="en-US" u="sng" dirty="0"/>
          </a:p>
          <a:p>
            <a:r>
              <a:rPr lang="en-US" dirty="0"/>
              <a:t>To compare short-term vs long-term forecasting behavior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1CF8DE-D3EA-D8AB-1C13-56CB9CCF62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032" y="1772652"/>
            <a:ext cx="6914147" cy="4138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4119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402958-8324-D5A8-C66F-A2571A7DEC15}"/>
              </a:ext>
            </a:extLst>
          </p:cNvPr>
          <p:cNvSpPr txBox="1"/>
          <p:nvPr/>
        </p:nvSpPr>
        <p:spPr>
          <a:xfrm>
            <a:off x="673768" y="216568"/>
            <a:ext cx="76841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/>
              <a:t>FORECAST RESULTS &amp; UNCERTAINTY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AACB63-B539-8483-9F2C-FC95D0813291}"/>
              </a:ext>
            </a:extLst>
          </p:cNvPr>
          <p:cNvSpPr txBox="1"/>
          <p:nvPr/>
        </p:nvSpPr>
        <p:spPr>
          <a:xfrm>
            <a:off x="280737" y="2791326"/>
            <a:ext cx="556661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Forecast Insights:</a:t>
            </a:r>
            <a:endParaRPr lang="en-US" u="sng" dirty="0"/>
          </a:p>
          <a:p>
            <a:r>
              <a:rPr lang="en-US" dirty="0"/>
              <a:t>ARIMA produces conservative forecasts</a:t>
            </a:r>
          </a:p>
          <a:p>
            <a:r>
              <a:rPr lang="en-US" dirty="0"/>
              <a:t>Prophet captures long-term growth patterns</a:t>
            </a:r>
          </a:p>
          <a:p>
            <a:r>
              <a:rPr lang="en-US" dirty="0"/>
              <a:t>Forecast uncertainty visualized using confidence intervals</a:t>
            </a:r>
          </a:p>
          <a:p>
            <a:r>
              <a:rPr lang="en-US" b="1" u="sng" dirty="0"/>
              <a:t>Key Learning:</a:t>
            </a:r>
            <a:endParaRPr lang="en-US" u="sng" dirty="0"/>
          </a:p>
          <a:p>
            <a:r>
              <a:rPr lang="en-US" dirty="0"/>
              <a:t>Forecasts are probabilistic, not exact values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010B39-6DF4-2355-43C1-4D0776AB9B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7347" y="2165685"/>
            <a:ext cx="6280484" cy="3898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9121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F2BF18A-D1C7-3BC9-E152-9B6E85F3E299}"/>
              </a:ext>
            </a:extLst>
          </p:cNvPr>
          <p:cNvSpPr txBox="1"/>
          <p:nvPr/>
        </p:nvSpPr>
        <p:spPr>
          <a:xfrm>
            <a:off x="946484" y="368968"/>
            <a:ext cx="61681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/>
              <a:t>VOLATILITY &amp; RISK 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F5D828-0BD9-93A2-E400-C8D8369938AB}"/>
              </a:ext>
            </a:extLst>
          </p:cNvPr>
          <p:cNvSpPr txBox="1"/>
          <p:nvPr/>
        </p:nvSpPr>
        <p:spPr>
          <a:xfrm>
            <a:off x="489284" y="2526631"/>
            <a:ext cx="491690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Risk Metrics Used:</a:t>
            </a:r>
            <a:endParaRPr lang="en-US" u="sng" dirty="0"/>
          </a:p>
          <a:p>
            <a:r>
              <a:rPr lang="en-US" dirty="0"/>
              <a:t>Daily Returns</a:t>
            </a:r>
          </a:p>
          <a:p>
            <a:r>
              <a:rPr lang="en-US" dirty="0"/>
              <a:t>Volatility (Standard Deviation)</a:t>
            </a:r>
          </a:p>
          <a:p>
            <a:r>
              <a:rPr lang="en-US" b="1" u="sng" dirty="0"/>
              <a:t>Observations:</a:t>
            </a:r>
            <a:endParaRPr lang="en-US" u="sng" dirty="0"/>
          </a:p>
          <a:p>
            <a:r>
              <a:rPr lang="en-US" dirty="0"/>
              <a:t>Bitcoin shows high daily volatility (~3%)</a:t>
            </a:r>
          </a:p>
          <a:p>
            <a:r>
              <a:rPr lang="en-US" dirty="0"/>
              <a:t>Extreme gains and losses occur frequently</a:t>
            </a:r>
          </a:p>
          <a:p>
            <a:r>
              <a:rPr lang="en-US" dirty="0"/>
              <a:t>Higher volatility implies higher investment risk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A0CCFC-86C5-B0CA-8C05-3703573DB6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7957" y="1957137"/>
            <a:ext cx="6593305" cy="3866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4416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FB308D-0945-33B0-DC30-C074CB65A9F0}"/>
              </a:ext>
            </a:extLst>
          </p:cNvPr>
          <p:cNvSpPr txBox="1"/>
          <p:nvPr/>
        </p:nvSpPr>
        <p:spPr>
          <a:xfrm>
            <a:off x="898358" y="417095"/>
            <a:ext cx="61200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/>
              <a:t>INDICATORS &amp; STRATEGY 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AE7CE4-AC35-0B0D-4EB8-97AA56BDB5D9}"/>
              </a:ext>
            </a:extLst>
          </p:cNvPr>
          <p:cNvSpPr txBox="1"/>
          <p:nvPr/>
        </p:nvSpPr>
        <p:spPr>
          <a:xfrm>
            <a:off x="248653" y="2518610"/>
            <a:ext cx="474846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Technical Indicators:</a:t>
            </a:r>
            <a:endParaRPr lang="en-US" u="sng" dirty="0"/>
          </a:p>
          <a:p>
            <a:r>
              <a:rPr lang="en-US" dirty="0"/>
              <a:t>7-day Moving Average (MA7)</a:t>
            </a:r>
          </a:p>
          <a:p>
            <a:r>
              <a:rPr lang="en-US" dirty="0"/>
              <a:t>30-day Moving Average (MA30)</a:t>
            </a:r>
          </a:p>
          <a:p>
            <a:r>
              <a:rPr lang="en-US" b="1" u="sng" dirty="0"/>
              <a:t>Strategy Used:</a:t>
            </a:r>
            <a:endParaRPr lang="en-US" u="sng" dirty="0"/>
          </a:p>
          <a:p>
            <a:r>
              <a:rPr lang="en-US" dirty="0"/>
              <a:t>Buy when MA7 crosses above MA30</a:t>
            </a:r>
          </a:p>
          <a:p>
            <a:r>
              <a:rPr lang="en-US" dirty="0"/>
              <a:t>Sell when MA7 crosses below MA30</a:t>
            </a:r>
          </a:p>
          <a:p>
            <a:r>
              <a:rPr lang="en-US" b="1" u="sng" dirty="0"/>
              <a:t>Result:</a:t>
            </a:r>
            <a:endParaRPr lang="en-US" u="sng" dirty="0"/>
          </a:p>
          <a:p>
            <a:r>
              <a:rPr lang="en-US" dirty="0"/>
              <a:t>Strategy captures major trends</a:t>
            </a:r>
          </a:p>
          <a:p>
            <a:r>
              <a:rPr lang="en-US" dirty="0"/>
              <a:t>Performs poorly in sideways markets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20CC60-BDBA-0A37-CFB1-66A989A7FD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1788" y="1179095"/>
            <a:ext cx="7571875" cy="5454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1758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8C9B5E-5503-7EB2-1A98-52C3C9EC78E1}"/>
              </a:ext>
            </a:extLst>
          </p:cNvPr>
          <p:cNvSpPr txBox="1"/>
          <p:nvPr/>
        </p:nvSpPr>
        <p:spPr>
          <a:xfrm>
            <a:off x="609600" y="240632"/>
            <a:ext cx="6946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/>
              <a:t>CORRELATION &amp; MARKET STRUCTURE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3CD2E6-4AC6-7C29-8310-9BF0B8D8E03D}"/>
              </a:ext>
            </a:extLst>
          </p:cNvPr>
          <p:cNvSpPr txBox="1"/>
          <p:nvPr/>
        </p:nvSpPr>
        <p:spPr>
          <a:xfrm>
            <a:off x="409074" y="2061411"/>
            <a:ext cx="502117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Analysis Performed:</a:t>
            </a:r>
            <a:endParaRPr lang="en-US" u="sng" dirty="0"/>
          </a:p>
          <a:p>
            <a:r>
              <a:rPr lang="en-US" dirty="0"/>
              <a:t>Relationship between Bitcoin price and trading volume</a:t>
            </a:r>
          </a:p>
          <a:p>
            <a:r>
              <a:rPr lang="en-US" b="1" u="sng" dirty="0"/>
              <a:t>Result:</a:t>
            </a:r>
            <a:endParaRPr lang="en-US" u="sng" dirty="0"/>
          </a:p>
          <a:p>
            <a:r>
              <a:rPr lang="en-US" dirty="0"/>
              <a:t>Moderate positive correlation (~0.6)</a:t>
            </a:r>
          </a:p>
          <a:p>
            <a:r>
              <a:rPr lang="en-US" dirty="0"/>
              <a:t>Higher volume often accompanies strong price movements</a:t>
            </a:r>
          </a:p>
          <a:p>
            <a:r>
              <a:rPr lang="en-US" b="1" u="sng" dirty="0"/>
              <a:t>Conclusion:</a:t>
            </a:r>
            <a:endParaRPr lang="en-US" u="sng" dirty="0"/>
          </a:p>
          <a:p>
            <a:r>
              <a:rPr lang="en-US" dirty="0"/>
              <a:t>Volume reflects market participation and momentum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7B6AB4-BB04-74FB-272A-AA3DF4BDD7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5766" y="1588169"/>
            <a:ext cx="6809876" cy="4844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544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41F3B6-E3A6-2238-5C67-B978C211BC54}"/>
              </a:ext>
            </a:extLst>
          </p:cNvPr>
          <p:cNvSpPr txBox="1"/>
          <p:nvPr/>
        </p:nvSpPr>
        <p:spPr>
          <a:xfrm>
            <a:off x="874294" y="641685"/>
            <a:ext cx="70424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/>
              <a:t>FEATURE IMPORTANCE &amp; EXPLAINABILITY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B73674-E935-103E-9488-52D79BEF14FF}"/>
              </a:ext>
            </a:extLst>
          </p:cNvPr>
          <p:cNvSpPr txBox="1"/>
          <p:nvPr/>
        </p:nvSpPr>
        <p:spPr>
          <a:xfrm>
            <a:off x="409075" y="2462463"/>
            <a:ext cx="542223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Key Features:</a:t>
            </a:r>
            <a:endParaRPr lang="en-US" u="sng" dirty="0"/>
          </a:p>
          <a:p>
            <a:r>
              <a:rPr lang="en-US" dirty="0"/>
              <a:t>Historical price values</a:t>
            </a:r>
          </a:p>
          <a:p>
            <a:r>
              <a:rPr lang="en-US" dirty="0"/>
              <a:t>Time (trend &amp; seasonality)</a:t>
            </a:r>
          </a:p>
          <a:p>
            <a:r>
              <a:rPr lang="en-US" dirty="0"/>
              <a:t>Trading volume</a:t>
            </a:r>
          </a:p>
          <a:p>
            <a:r>
              <a:rPr lang="en-US" dirty="0"/>
              <a:t>Lagged price values</a:t>
            </a:r>
          </a:p>
          <a:p>
            <a:r>
              <a:rPr lang="en-US" b="1" u="sng" dirty="0"/>
              <a:t>Explainability:</a:t>
            </a:r>
            <a:endParaRPr lang="en-US" u="sng" dirty="0"/>
          </a:p>
          <a:p>
            <a:r>
              <a:rPr lang="en-US" dirty="0"/>
              <a:t>Time-series models rely on temporal patterns</a:t>
            </a:r>
          </a:p>
          <a:p>
            <a:r>
              <a:rPr lang="en-US" dirty="0"/>
              <a:t>Feature importance is implicit, not explicit</a:t>
            </a:r>
          </a:p>
          <a:p>
            <a:r>
              <a:rPr lang="en-US" b="1" u="sng" dirty="0"/>
              <a:t>Limitations:</a:t>
            </a:r>
            <a:endParaRPr lang="en-US" u="sng" dirty="0"/>
          </a:p>
          <a:p>
            <a:r>
              <a:rPr lang="en-US" dirty="0"/>
              <a:t>External factors (news, events) not included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F86750-6A0A-3858-A25D-8F936C8B8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748589"/>
            <a:ext cx="6079958" cy="4984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7747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F9C7B2-164F-3C8F-B145-CD7BEAB0E78F}"/>
              </a:ext>
            </a:extLst>
          </p:cNvPr>
          <p:cNvSpPr txBox="1"/>
          <p:nvPr/>
        </p:nvSpPr>
        <p:spPr>
          <a:xfrm>
            <a:off x="834189" y="601579"/>
            <a:ext cx="59676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/>
              <a:t>CONCLUSION &amp; FUTURE SCOPE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BD87C5-0D18-A7D6-0283-8EE24148A379}"/>
              </a:ext>
            </a:extLst>
          </p:cNvPr>
          <p:cNvSpPr txBox="1"/>
          <p:nvPr/>
        </p:nvSpPr>
        <p:spPr>
          <a:xfrm>
            <a:off x="505326" y="2294021"/>
            <a:ext cx="559067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/>
              <a:t>Conclusion:</a:t>
            </a:r>
            <a:endParaRPr lang="en-IN" u="sng" dirty="0"/>
          </a:p>
          <a:p>
            <a:r>
              <a:rPr lang="en-IN" dirty="0"/>
              <a:t>Bitcoin is highly volatile and risky</a:t>
            </a:r>
          </a:p>
          <a:p>
            <a:r>
              <a:rPr lang="en-IN" dirty="0"/>
              <a:t>Data analytics helps understand trends and risk</a:t>
            </a:r>
          </a:p>
          <a:p>
            <a:r>
              <a:rPr lang="en-IN" dirty="0"/>
              <a:t>Prophet performs better for long-term forecasting</a:t>
            </a:r>
          </a:p>
          <a:p>
            <a:r>
              <a:rPr lang="en-IN" dirty="0"/>
              <a:t>Dashboard provides end-to-end market insights</a:t>
            </a:r>
          </a:p>
          <a:p>
            <a:r>
              <a:rPr lang="en-IN" b="1" u="sng" dirty="0"/>
              <a:t>Future Scope</a:t>
            </a:r>
            <a:r>
              <a:rPr lang="en-IN" b="1" dirty="0"/>
              <a:t>:</a:t>
            </a:r>
            <a:endParaRPr lang="en-IN" dirty="0"/>
          </a:p>
          <a:p>
            <a:r>
              <a:rPr lang="en-IN" dirty="0"/>
              <a:t>Sentiment analysis from news &amp; social media</a:t>
            </a:r>
          </a:p>
          <a:p>
            <a:r>
              <a:rPr lang="en-IN" dirty="0"/>
              <a:t>Advanced ML models (LSTM, Transformers)</a:t>
            </a:r>
          </a:p>
          <a:p>
            <a:r>
              <a:rPr lang="en-IN" dirty="0"/>
              <a:t>Multi-cryptocurrency comparison</a:t>
            </a:r>
          </a:p>
          <a:p>
            <a:r>
              <a:rPr lang="en-IN" dirty="0"/>
              <a:t>Real-time streaming dashboards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598991-914E-C673-9EF5-19FA9F9307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9537" y="1997242"/>
            <a:ext cx="6055895" cy="4596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1901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bstract design">
            <a:extLst>
              <a:ext uri="{FF2B5EF4-FFF2-40B4-BE49-F238E27FC236}">
                <a16:creationId xmlns:a16="http://schemas.microsoft.com/office/drawing/2014/main" id="{6D363037-1741-4470-A023-883E2FFD584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18308" r="6818" b="2872"/>
          <a:stretch/>
        </p:blipFill>
        <p:spPr>
          <a:xfrm flipH="1">
            <a:off x="0" y="10"/>
            <a:ext cx="12191980" cy="6857990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970C361B-D32E-42E0-A41E-86C3D9AC88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>
            <a:normAutofit/>
          </a:bodyPr>
          <a:lstStyle/>
          <a:p>
            <a:r>
              <a:rPr lang="en-US" dirty="0"/>
              <a:t>Thank You!</a:t>
            </a:r>
            <a:endParaRPr lang="ru-RU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18E9D62-7BA3-4D5E-8915-0D0E8661E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107679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84036_DIGITAL ION DESIGN_SL_V1.pptx" id="{AD58A1CE-E9E9-4C2E-83A0-65FD4522F93A}" vid="{1E9553B9-AA04-4A15-9836-1E066825781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93813dd7ca6ad654711aa0ab317e03a3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f11dc0ce689dd3925e84e4e35398c6e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D16958A-754B-4396-9457-FD7A427A37D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C30393A-FEC6-4A44-9E4A-6EA49F1F7D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48C88F1-1664-415F-AFCE-F6CF45809817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Digital design</Template>
  <TotalTime>37</TotalTime>
  <Words>503</Words>
  <Application>Microsoft Office PowerPoint</Application>
  <PresentationFormat>Widescreen</PresentationFormat>
  <Paragraphs>105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Calibri</vt:lpstr>
      <vt:lpstr>Century Gothic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yurekan1424@outlook.com</dc:creator>
  <cp:lastModifiedBy>yurekan1424@outlook.com</cp:lastModifiedBy>
  <cp:revision>1</cp:revision>
  <dcterms:created xsi:type="dcterms:W3CDTF">2026-01-06T12:36:24Z</dcterms:created>
  <dcterms:modified xsi:type="dcterms:W3CDTF">2026-01-06T13:14:18Z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